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1.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8"/>
  </p:notesMasterIdLst>
  <p:sldIdLst>
    <p:sldId id="256" r:id="rId5"/>
    <p:sldId id="257" r:id="rId6"/>
    <p:sldId id="258" r:id="rId7"/>
    <p:sldId id="259" r:id="rId8"/>
    <p:sldId id="260" r:id="rId9"/>
    <p:sldId id="278" r:id="rId10"/>
    <p:sldId id="274" r:id="rId11"/>
    <p:sldId id="275" r:id="rId12"/>
    <p:sldId id="262" r:id="rId13"/>
    <p:sldId id="263" r:id="rId14"/>
    <p:sldId id="264" r:id="rId15"/>
    <p:sldId id="265" r:id="rId16"/>
    <p:sldId id="266" r:id="rId17"/>
    <p:sldId id="267" r:id="rId18"/>
    <p:sldId id="279" r:id="rId19"/>
    <p:sldId id="280" r:id="rId20"/>
    <p:sldId id="268" r:id="rId21"/>
    <p:sldId id="269" r:id="rId22"/>
    <p:sldId id="281" r:id="rId23"/>
    <p:sldId id="270" r:id="rId24"/>
    <p:sldId id="271" r:id="rId25"/>
    <p:sldId id="272" r:id="rId26"/>
    <p:sldId id="273" r:id="rId27"/>
  </p:sldIdLst>
  <p:sldSz cx="12192000" cy="6858000"/>
  <p:notesSz cx="6858000" cy="1857375"/>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8" autoAdjust="0"/>
    <p:restoredTop sz="85000" autoAdjust="0"/>
  </p:normalViewPr>
  <p:slideViewPr>
    <p:cSldViewPr snapToGrid="0">
      <p:cViewPr>
        <p:scale>
          <a:sx n="51" d="100"/>
          <a:sy n="51" d="100"/>
        </p:scale>
        <p:origin x="117" y="771"/>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8/10/relationships/authors" Target="authors.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EEBDA0E2-FEBD-4B65-8F16-724CF984F377}" type="slidenum">
              <a:rPr lang="en-US" smtClean="0"/>
              <a:t>19</a:t>
            </a:fld>
            <a:endParaRPr lang="en-US"/>
          </a:p>
        </p:txBody>
      </p:sp>
    </p:spTree>
    <p:extLst>
      <p:ext uri="{BB962C8B-B14F-4D97-AF65-F5344CB8AC3E}">
        <p14:creationId xmlns:p14="http://schemas.microsoft.com/office/powerpoint/2010/main" val="31157846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26.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28.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title"/>
          </p:nvPr>
        </p:nvSpPr>
        <p:spPr>
          <a:xfrm>
            <a:off x="838200" y="552162"/>
            <a:ext cx="10515600" cy="611620"/>
          </a:xfrm>
        </p:spPr>
        <p:txBody>
          <a:bodyPr anchor="ctr">
            <a:noAutofit/>
          </a:bodyPr>
          <a:lstStyle/>
          <a:p>
            <a:r>
              <a:rPr lang="en-US" dirty="0"/>
              <a:t>Title</a:t>
            </a:r>
          </a:p>
        </p:txBody>
      </p:sp>
      <p:sp>
        <p:nvSpPr>
          <p:cNvPr id="3" name="Subtitle 2">
            <a:extLst>
              <a:ext uri="{FF2B5EF4-FFF2-40B4-BE49-F238E27FC236}">
                <a16:creationId xmlns:a16="http://schemas.microsoft.com/office/drawing/2014/main" id="{59DF6B8D-2BAC-11F8-7D28-B631D08C8D90}"/>
              </a:ext>
            </a:extLst>
          </p:cNvPr>
          <p:cNvSpPr>
            <a:spLocks noGrp="1"/>
          </p:cNvSpPr>
          <p:nvPr>
            <p:ph sz="half" idx="1"/>
          </p:nvPr>
        </p:nvSpPr>
        <p:spPr/>
        <p:txBody>
          <a:bodyPr>
            <a:normAutofit/>
          </a:bodyPr>
          <a:lstStyle/>
          <a:p>
            <a:pPr marL="0" indent="0">
              <a:buNone/>
            </a:pPr>
            <a:r>
              <a:rPr lang="en-US" dirty="0">
                <a:solidFill>
                  <a:schemeClr val="bg1">
                    <a:lumMod val="75000"/>
                  </a:schemeClr>
                </a:solidFill>
                <a:latin typeface="IBM Plex Mono Medium" panose="020B0609050203000203" pitchFamily="49" charset="0"/>
              </a:rPr>
              <a:t>Nancy Arora </a:t>
            </a:r>
          </a:p>
          <a:p>
            <a:pPr marL="0" indent="0">
              <a:buNone/>
            </a:pPr>
            <a:r>
              <a:rPr lang="en-US" dirty="0">
                <a:solidFill>
                  <a:schemeClr val="bg1">
                    <a:lumMod val="75000"/>
                  </a:schemeClr>
                </a:solidFill>
                <a:latin typeface="IBM Plex Mono Medium" panose="020B0609050203000203" pitchFamily="49" charset="0"/>
              </a:rPr>
              <a:t>May24,2026 </a:t>
            </a:r>
          </a:p>
          <a:p>
            <a:endParaRPr lang="en-US" dirty="0"/>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5689811" y="1600200"/>
            <a:ext cx="5038015" cy="4572000"/>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389349" y="1630528"/>
            <a:ext cx="7068725"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t>Summarize key findings here</a:t>
            </a:r>
          </a:p>
          <a:p>
            <a:pPr marL="0" indent="0">
              <a:buNone/>
            </a:pPr>
            <a:endParaRPr lang="en-US" sz="1600" dirty="0"/>
          </a:p>
          <a:p>
            <a:r>
              <a:rPr lang="en-US" sz="1600" dirty="0"/>
              <a:t>This project analyzes global developer survey data to identify trends in programming languages, databases, platforms, web frameworks, compensation, demographics, and future technology preferences.</a:t>
            </a:r>
          </a:p>
          <a:p>
            <a:r>
              <a:rPr lang="en-US" sz="1600" dirty="0"/>
              <a:t>Using Python for data analysis and IBM Cognos Analytics for dashboard visualization, the study highlights the dominance of JavaScript technologies, PostgreSQL, AWS, and Spring Boot, along with important demographic and educational trends among developers.</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733926" y="2136507"/>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36177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solidFill>
                  <a:schemeClr val="bg1">
                    <a:lumMod val="75000"/>
                  </a:schemeClr>
                </a:solidFill>
              </a:rPr>
              <a:t>Purpose of the report, Target Audience &amp; Value of the analysis</a:t>
            </a:r>
            <a:endParaRPr lang="en-US" sz="2200" dirty="0">
              <a:solidFill>
                <a:schemeClr val="bg1">
                  <a:lumMod val="75000"/>
                </a:schemeClr>
              </a:solidFill>
            </a:endParaRPr>
          </a:p>
          <a:p>
            <a:r>
              <a:rPr lang="en-US" sz="1600" dirty="0">
                <a:solidFill>
                  <a:srgbClr val="262626"/>
                </a:solidFill>
                <a:latin typeface="IBM Plex Sans" panose="020B0503050203000203" pitchFamily="34" charset="0"/>
              </a:rPr>
              <a:t>Analyze current and future technology trends for technologies</a:t>
            </a:r>
          </a:p>
          <a:p>
            <a:r>
              <a:rPr lang="en-US" sz="1600" dirty="0">
                <a:solidFill>
                  <a:srgbClr val="262626"/>
                </a:solidFill>
                <a:latin typeface="IBM Plex Sans" panose="020B0503050203000203" pitchFamily="34" charset="0"/>
              </a:rPr>
              <a:t>Understand developer demographics</a:t>
            </a:r>
          </a:p>
          <a:p>
            <a:r>
              <a:rPr lang="en-US" sz="1600" dirty="0">
                <a:solidFill>
                  <a:srgbClr val="262626"/>
                </a:solidFill>
                <a:latin typeface="IBM Plex Sans" panose="020B0503050203000203" pitchFamily="34" charset="0"/>
              </a:rPr>
              <a:t>Explore compensation and education patterns</a:t>
            </a:r>
          </a:p>
          <a:p>
            <a:r>
              <a:rPr lang="en-US" sz="1600" dirty="0">
                <a:solidFill>
                  <a:srgbClr val="262626"/>
                </a:solidFill>
                <a:latin typeface="IBM Plex Sans" panose="020B0503050203000203" pitchFamily="34" charset="0"/>
              </a:rPr>
              <a:t>Create interactive dashboards for visualization</a:t>
            </a:r>
            <a:endParaRPr lang="en-US" sz="1800" dirty="0">
              <a:solidFill>
                <a:schemeClr val="tx1"/>
              </a:solidFill>
            </a:endParaRP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681037"/>
            <a:ext cx="10571747" cy="685799"/>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680153"/>
            <a:ext cx="7068725" cy="43513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b="1" dirty="0"/>
              <a:t>Data sources</a:t>
            </a:r>
          </a:p>
          <a:p>
            <a:r>
              <a:rPr lang="en-US" sz="2200" dirty="0"/>
              <a:t>Survey Based Data from developers</a:t>
            </a:r>
          </a:p>
          <a:p>
            <a:pPr marL="0" indent="0">
              <a:buNone/>
            </a:pPr>
            <a:r>
              <a:rPr lang="en-US" sz="2200" b="1" dirty="0"/>
              <a:t>Data collection &amp; Data wrangling steps</a:t>
            </a:r>
          </a:p>
          <a:p>
            <a:r>
              <a:rPr lang="en-US" sz="2200" dirty="0"/>
              <a:t>Handling missing values</a:t>
            </a:r>
          </a:p>
          <a:p>
            <a:r>
              <a:rPr lang="en-US" sz="2200" dirty="0"/>
              <a:t>Data transformation</a:t>
            </a:r>
          </a:p>
          <a:p>
            <a:r>
              <a:rPr lang="en-US" sz="2200" dirty="0"/>
              <a:t>Splitting multi-select columns</a:t>
            </a:r>
          </a:p>
          <a:p>
            <a:pPr marL="0" indent="0">
              <a:buNone/>
            </a:pPr>
            <a:r>
              <a:rPr lang="en-US" sz="2200" dirty="0"/>
              <a:t>Tools &amp; Technologies</a:t>
            </a:r>
          </a:p>
          <a:p>
            <a:r>
              <a:rPr lang="en-US" sz="2200" dirty="0"/>
              <a:t>Python</a:t>
            </a:r>
          </a:p>
          <a:p>
            <a:r>
              <a:rPr lang="en-US" sz="2200" dirty="0"/>
              <a:t>Pandas</a:t>
            </a:r>
          </a:p>
          <a:p>
            <a:r>
              <a:rPr lang="en-US" sz="2200" dirty="0"/>
              <a:t>Matplotlib/Seaborn/Plotly</a:t>
            </a:r>
          </a:p>
          <a:p>
            <a:r>
              <a:rPr lang="en-US" sz="2200" dirty="0"/>
              <a:t>IBM Cognos Analytics</a:t>
            </a:r>
          </a:p>
          <a:p>
            <a:pPr marL="0" indent="0">
              <a:buNone/>
            </a:pPr>
            <a:r>
              <a:rPr lang="en-US" sz="2200" b="1" dirty="0"/>
              <a:t>Analysis Techniques</a:t>
            </a:r>
          </a:p>
          <a:p>
            <a:r>
              <a:rPr lang="en-US" sz="2100" dirty="0"/>
              <a:t>Descriptive statistics</a:t>
            </a:r>
          </a:p>
          <a:p>
            <a:r>
              <a:rPr lang="en-US" sz="2100" dirty="0"/>
              <a:t>Visualization</a:t>
            </a:r>
          </a:p>
          <a:p>
            <a:r>
              <a:rPr lang="en-US" sz="2100" dirty="0"/>
              <a:t>Dashboard creation</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7B35-92B8-C737-3DEB-4A57887A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9CC39-D393-D59D-E066-37C17FD3C522}"/>
              </a:ext>
            </a:extLst>
          </p:cNvPr>
          <p:cNvSpPr>
            <a:spLocks noGrp="1"/>
          </p:cNvSpPr>
          <p:nvPr>
            <p:ph type="title"/>
          </p:nvPr>
        </p:nvSpPr>
        <p:spPr>
          <a:xfrm>
            <a:off x="782053" y="398033"/>
            <a:ext cx="10571747" cy="1091735"/>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E000DDB6-5B82-F3F8-80C1-FE555825BAF5}"/>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pic>
        <p:nvPicPr>
          <p:cNvPr id="6" name="Graphic 5" descr="Presentation with pie chart with solid fill">
            <a:extLst>
              <a:ext uri="{FF2B5EF4-FFF2-40B4-BE49-F238E27FC236}">
                <a16:creationId xmlns:a16="http://schemas.microsoft.com/office/drawing/2014/main" id="{1D5615A7-55B9-E0F5-0A84-57A35A57B0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468" y="2101175"/>
            <a:ext cx="2972979" cy="2972979"/>
          </a:xfrm>
          <a:prstGeom prst="rect">
            <a:avLst/>
          </a:prstGeom>
        </p:spPr>
      </p:pic>
      <p:sp>
        <p:nvSpPr>
          <p:cNvPr id="8" name="TextBox 7">
            <a:extLst>
              <a:ext uri="{FF2B5EF4-FFF2-40B4-BE49-F238E27FC236}">
                <a16:creationId xmlns:a16="http://schemas.microsoft.com/office/drawing/2014/main" id="{9C6D1E5C-FB56-616C-9776-6EF59DA07045}"/>
              </a:ext>
            </a:extLst>
          </p:cNvPr>
          <p:cNvSpPr txBox="1"/>
          <p:nvPr/>
        </p:nvSpPr>
        <p:spPr>
          <a:xfrm>
            <a:off x="3980329" y="2101175"/>
            <a:ext cx="7251972" cy="2308324"/>
          </a:xfrm>
          <a:prstGeom prst="rect">
            <a:avLst/>
          </a:prstGeom>
          <a:noFill/>
        </p:spPr>
        <p:txBody>
          <a:bodyPr wrap="square">
            <a:spAutoFit/>
          </a:bodyPr>
          <a:lstStyle/>
          <a:p>
            <a:pPr marL="342900" indent="-342900">
              <a:buFont typeface="Arial" panose="020B0604020202020204" pitchFamily="34" charset="0"/>
              <a:buChar char="•"/>
            </a:pPr>
            <a:r>
              <a:rPr lang="en-US" sz="2400" dirty="0"/>
              <a:t>HTML/CSS, JavaScript, and TypeScript emerged as the most commonly used and preferred programming languages among developers</a:t>
            </a:r>
          </a:p>
          <a:p>
            <a:pPr marL="342900" indent="-342900">
              <a:buFont typeface="Arial" panose="020B0604020202020204" pitchFamily="34" charset="0"/>
              <a:buChar char="•"/>
            </a:pPr>
            <a:r>
              <a:rPr lang="en-US" sz="2400" dirty="0"/>
              <a:t>PostgreSQL and AWS showed the highest adoption among databases and platforms respectively.</a:t>
            </a:r>
          </a:p>
        </p:txBody>
      </p:sp>
    </p:spTree>
    <p:custDataLst>
      <p:tags r:id="rId1"/>
    </p:custDataLst>
    <p:extLst>
      <p:ext uri="{BB962C8B-B14F-4D97-AF65-F5344CB8AC3E}">
        <p14:creationId xmlns:p14="http://schemas.microsoft.com/office/powerpoint/2010/main" val="150132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633845" y="383051"/>
            <a:ext cx="5833456" cy="1325563"/>
          </a:xfrm>
        </p:spPr>
        <p:txBody>
          <a:bodyPr anchor="ctr">
            <a:normAutofit/>
          </a:bodyPr>
          <a:lstStyle/>
          <a:p>
            <a:r>
              <a:rPr lang="en-US" dirty="0"/>
              <a:t> JOB POSTINGS</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914400" y="2191385"/>
            <a:ext cx="10489276"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t>In Module 1 you have collected the job posting data using Job API in a file named “</a:t>
            </a:r>
            <a:r>
              <a:rPr lang="en-IN" sz="2400" dirty="0"/>
              <a:t>job-postings.xlsx</a:t>
            </a:r>
            <a:r>
              <a:rPr lang="en-US" sz="2200" dirty="0"/>
              <a:t>”. Present that data using a bar chart here. Order the bar chart in the descending order of the number of job postings.</a:t>
            </a:r>
          </a:p>
          <a:p>
            <a:pPr marL="0" indent="0">
              <a:buFont typeface="Arial"/>
              <a:buNone/>
            </a:pPr>
            <a:endParaRPr lang="en-US" sz="2200" dirty="0"/>
          </a:p>
          <a:p>
            <a:pPr marL="0" indent="0">
              <a:buFont typeface="Arial"/>
              <a:buNone/>
            </a:pPr>
            <a:endParaRPr lang="en-US" sz="2200" dirty="0"/>
          </a:p>
        </p:txBody>
      </p:sp>
      <p:pic>
        <p:nvPicPr>
          <p:cNvPr id="3" name="Picture 2">
            <a:extLst>
              <a:ext uri="{FF2B5EF4-FFF2-40B4-BE49-F238E27FC236}">
                <a16:creationId xmlns:a16="http://schemas.microsoft.com/office/drawing/2014/main" id="{4ADEB36D-BECF-4D84-4378-3C66A7C8D452}"/>
              </a:ext>
            </a:extLst>
          </p:cNvPr>
          <p:cNvPicPr>
            <a:picLocks noChangeAspect="1"/>
          </p:cNvPicPr>
          <p:nvPr/>
        </p:nvPicPr>
        <p:blipFill>
          <a:blip r:embed="rId3"/>
          <a:stretch>
            <a:fillRect/>
          </a:stretch>
        </p:blipFill>
        <p:spPr>
          <a:xfrm>
            <a:off x="1110143" y="3187816"/>
            <a:ext cx="10167457" cy="3112316"/>
          </a:xfrm>
          <a:prstGeom prst="rect">
            <a:avLst/>
          </a:prstGeom>
        </p:spPr>
      </p:pic>
    </p:spTree>
    <p:custDataLst>
      <p:tags r:id="rId1"/>
    </p:custDataLst>
    <p:extLst>
      <p:ext uri="{BB962C8B-B14F-4D97-AF65-F5344CB8AC3E}">
        <p14:creationId xmlns:p14="http://schemas.microsoft.com/office/powerpoint/2010/main" val="1935373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758536" y="383051"/>
            <a:ext cx="5708765" cy="1325563"/>
          </a:xfrm>
        </p:spPr>
        <p:txBody>
          <a:bodyPr anchor="ctr">
            <a:normAutofit/>
          </a:bodyPr>
          <a:lstStyle/>
          <a:p>
            <a:r>
              <a:rPr lang="en-US" dirty="0"/>
              <a:t>POPULAR LANGUAGES</a:t>
            </a:r>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878305" y="2191385"/>
            <a:ext cx="10525371"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t>In Module 1 you have collected the job postings data using web scraping in a file named “</a:t>
            </a:r>
            <a:r>
              <a:rPr lang="en-IN" sz="2400" dirty="0"/>
              <a:t>popular-languages.csv</a:t>
            </a:r>
            <a:r>
              <a:rPr lang="en-US" sz="2200" dirty="0"/>
              <a:t>”. Present that data using a bar chart here. Order the bar chart in the descending order of salary.</a:t>
            </a:r>
          </a:p>
          <a:p>
            <a:pPr marL="0" indent="0">
              <a:buFont typeface="Arial"/>
              <a:buNone/>
            </a:pPr>
            <a:endParaRPr lang="en-US" sz="2200" dirty="0"/>
          </a:p>
        </p:txBody>
      </p:sp>
      <p:pic>
        <p:nvPicPr>
          <p:cNvPr id="3" name="Picture 2">
            <a:extLst>
              <a:ext uri="{FF2B5EF4-FFF2-40B4-BE49-F238E27FC236}">
                <a16:creationId xmlns:a16="http://schemas.microsoft.com/office/drawing/2014/main" id="{F305E24E-D3A2-919C-9004-CE7BD1D5665F}"/>
              </a:ext>
            </a:extLst>
          </p:cNvPr>
          <p:cNvPicPr>
            <a:picLocks noChangeAspect="1"/>
          </p:cNvPicPr>
          <p:nvPr/>
        </p:nvPicPr>
        <p:blipFill>
          <a:blip r:embed="rId3"/>
          <a:stretch>
            <a:fillRect/>
          </a:stretch>
        </p:blipFill>
        <p:spPr>
          <a:xfrm>
            <a:off x="1210908" y="3187816"/>
            <a:ext cx="9770184" cy="3045204"/>
          </a:xfrm>
          <a:prstGeom prst="rect">
            <a:avLst/>
          </a:prstGeom>
        </p:spPr>
      </p:pic>
    </p:spTree>
    <p:custDataLst>
      <p:tags r:id="rId1"/>
    </p:custDataLst>
    <p:extLst>
      <p:ext uri="{BB962C8B-B14F-4D97-AF65-F5344CB8AC3E}">
        <p14:creationId xmlns:p14="http://schemas.microsoft.com/office/powerpoint/2010/main" val="1945902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838200" y="365126"/>
            <a:ext cx="10515600" cy="1011854"/>
          </a:xfrm>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924305" y="2063170"/>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2063170"/>
            <a:ext cx="1758142" cy="501939"/>
          </a:xfrm>
        </p:spPr>
        <p:txBody>
          <a:bodyPr/>
          <a:lstStyle/>
          <a:p>
            <a:pPr marL="0" indent="0">
              <a:buNone/>
            </a:pPr>
            <a:r>
              <a:rPr lang="en-US" dirty="0"/>
              <a:t>Next Year</a:t>
            </a:r>
          </a:p>
        </p:txBody>
      </p:sp>
      <p:sp>
        <p:nvSpPr>
          <p:cNvPr id="10" name="Content Placeholder 2">
            <a:extLst>
              <a:ext uri="{FF2B5EF4-FFF2-40B4-BE49-F238E27FC236}">
                <a16:creationId xmlns:a16="http://schemas.microsoft.com/office/drawing/2014/main" id="{2DFAC5CF-1B58-ABB4-D63B-1D931D572459}"/>
              </a:ext>
            </a:extLst>
          </p:cNvPr>
          <p:cNvSpPr txBox="1">
            <a:spLocks/>
          </p:cNvSpPr>
          <p:nvPr/>
        </p:nvSpPr>
        <p:spPr>
          <a:xfrm>
            <a:off x="845473" y="2499920"/>
            <a:ext cx="4614949" cy="37761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&lt;Bar chart of top 10 programming languages for the current year goes here.&gt;</a:t>
            </a:r>
          </a:p>
          <a:p>
            <a:pPr marL="0" indent="0">
              <a:buNone/>
            </a:pPr>
            <a:endParaRPr lang="en-US" sz="2200" dirty="0">
              <a:solidFill>
                <a:schemeClr val="tx1"/>
              </a:solidFill>
            </a:endParaRP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172200"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programming languages for the next year goes here.&gt;</a:t>
            </a:r>
          </a:p>
          <a:p>
            <a:pPr marL="0" indent="0">
              <a:buNone/>
            </a:pPr>
            <a:endParaRPr lang="en-US" sz="2200" dirty="0">
              <a:solidFill>
                <a:schemeClr val="tx1"/>
              </a:solidFill>
            </a:endParaRPr>
          </a:p>
        </p:txBody>
      </p:sp>
      <p:sp>
        <p:nvSpPr>
          <p:cNvPr id="3" name="TextBox 2">
            <a:extLst>
              <a:ext uri="{FF2B5EF4-FFF2-40B4-BE49-F238E27FC236}">
                <a16:creationId xmlns:a16="http://schemas.microsoft.com/office/drawing/2014/main" id="{551C5862-9AB9-9679-23B5-A950E973AFB5}"/>
              </a:ext>
            </a:extLst>
          </p:cNvPr>
          <p:cNvSpPr txBox="1"/>
          <p:nvPr/>
        </p:nvSpPr>
        <p:spPr>
          <a:xfrm>
            <a:off x="924305" y="1475244"/>
            <a:ext cx="10429495" cy="461665"/>
          </a:xfrm>
          <a:prstGeom prst="rect">
            <a:avLst/>
          </a:prstGeom>
          <a:noFill/>
        </p:spPr>
        <p:txBody>
          <a:bodyPr wrap="square" rtlCol="0">
            <a:spAutoFit/>
          </a:bodyPr>
          <a:lstStyle/>
          <a:p>
            <a:r>
              <a:rPr lang="en-US" sz="2400" dirty="0"/>
              <a:t>Summarize key trends shown in the charts.</a:t>
            </a:r>
          </a:p>
        </p:txBody>
      </p:sp>
      <p:pic>
        <p:nvPicPr>
          <p:cNvPr id="4" name="Picture 3">
            <a:extLst>
              <a:ext uri="{FF2B5EF4-FFF2-40B4-BE49-F238E27FC236}">
                <a16:creationId xmlns:a16="http://schemas.microsoft.com/office/drawing/2014/main" id="{12456A01-C61E-BB55-2720-EE785F2EE269}"/>
              </a:ext>
            </a:extLst>
          </p:cNvPr>
          <p:cNvPicPr>
            <a:picLocks noChangeAspect="1"/>
          </p:cNvPicPr>
          <p:nvPr/>
        </p:nvPicPr>
        <p:blipFill>
          <a:blip r:embed="rId3"/>
          <a:stretch>
            <a:fillRect/>
          </a:stretch>
        </p:blipFill>
        <p:spPr>
          <a:xfrm>
            <a:off x="6291743" y="3724711"/>
            <a:ext cx="4051883" cy="2206305"/>
          </a:xfrm>
          <a:prstGeom prst="rect">
            <a:avLst/>
          </a:prstGeom>
        </p:spPr>
      </p:pic>
      <p:pic>
        <p:nvPicPr>
          <p:cNvPr id="6" name="Picture 5">
            <a:extLst>
              <a:ext uri="{FF2B5EF4-FFF2-40B4-BE49-F238E27FC236}">
                <a16:creationId xmlns:a16="http://schemas.microsoft.com/office/drawing/2014/main" id="{68325F4E-6C88-2F55-89A6-EA97C2922C36}"/>
              </a:ext>
            </a:extLst>
          </p:cNvPr>
          <p:cNvPicPr>
            <a:picLocks noChangeAspect="1"/>
          </p:cNvPicPr>
          <p:nvPr/>
        </p:nvPicPr>
        <p:blipFill>
          <a:blip r:embed="rId4"/>
          <a:stretch>
            <a:fillRect/>
          </a:stretch>
        </p:blipFill>
        <p:spPr>
          <a:xfrm>
            <a:off x="1225096" y="3374341"/>
            <a:ext cx="3938575" cy="2615397"/>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613065" y="218209"/>
            <a:ext cx="11471562" cy="1330037"/>
          </a:xfrm>
        </p:spPr>
        <p:txBody>
          <a:bodyPr>
            <a:noAutofit/>
          </a:bodyPr>
          <a:lstStyle/>
          <a:p>
            <a:r>
              <a:rPr lang="en-US"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normAutofit fontScale="70000" lnSpcReduction="20000"/>
          </a:bodyPr>
          <a:lstStyle/>
          <a:p>
            <a:pPr marL="0" indent="0">
              <a:buNone/>
            </a:pPr>
            <a:r>
              <a:rPr lang="en-US" sz="2600" dirty="0"/>
              <a:t>Findings</a:t>
            </a:r>
          </a:p>
          <a:p>
            <a:r>
              <a:rPr lang="en-US" sz="2600" dirty="0"/>
              <a:t>JavaScript is the most widely used programming language in the current job market, indicating strong demand in web development roles. </a:t>
            </a:r>
          </a:p>
          <a:p>
            <a:r>
              <a:rPr lang="en-US" sz="2600" dirty="0"/>
              <a:t>Python, SQL, and HTML/CSS are highly in-demand skills, showing that data analysis, backend development, and web technologies continue to dominate job requirements</a:t>
            </a:r>
            <a:r>
              <a:rPr lang="en-US" sz="2900" dirty="0"/>
              <a:t>.</a:t>
            </a:r>
          </a:p>
          <a:p>
            <a:r>
              <a:rPr lang="en-US" sz="2600" dirty="0"/>
              <a:t>Languages Like C++, and C# show comparatively lower usage, suggesting they are less frequently required in current job postings compared to modern web and data-focused technologies</a:t>
            </a:r>
          </a:p>
          <a:p>
            <a:endParaRPr lang="en-US" dirty="0"/>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normAutofit fontScale="70000" lnSpcReduction="20000"/>
          </a:bodyPr>
          <a:lstStyle/>
          <a:p>
            <a:pPr marL="0" indent="0">
              <a:buNone/>
            </a:pPr>
            <a:r>
              <a:rPr lang="en-US" dirty="0"/>
              <a:t>Implications</a:t>
            </a:r>
          </a:p>
          <a:p>
            <a:r>
              <a:rPr lang="en-US" sz="2400" b="1" dirty="0"/>
              <a:t>Focus on modern, high-demand languages will improve job opportunities</a:t>
            </a:r>
          </a:p>
          <a:p>
            <a:pPr marL="0" indent="0">
              <a:buNone/>
            </a:pPr>
            <a:r>
              <a:rPr lang="en-US" sz="2400" dirty="0"/>
              <a:t>Since JavaScript and Python dominate both current    usage and future interest, learners who prioritize these skills are more likely to secure relevant job roles in web development, AI, and data science.</a:t>
            </a:r>
          </a:p>
          <a:p>
            <a:r>
              <a:rPr lang="en-US" sz="2400" b="1" dirty="0"/>
              <a:t>Core technical skills will remain essential across careers</a:t>
            </a:r>
          </a:p>
          <a:p>
            <a:pPr marL="0" indent="0">
              <a:buNone/>
            </a:pPr>
            <a:r>
              <a:rPr lang="en-US" sz="2400" dirty="0"/>
              <a:t>SQL and HTML/CSS remain consistently   relevant,     meaning foundational skills in databases and web technologies are necessary regardless of specialization.</a:t>
            </a:r>
          </a:p>
          <a:p>
            <a:r>
              <a:rPr lang="en-US" sz="2400" b="1" dirty="0"/>
              <a:t>Declining demand for traditional languages suggests a shift in industry focus</a:t>
            </a:r>
          </a:p>
          <a:p>
            <a:pPr marL="0" indent="0">
              <a:buNone/>
            </a:pPr>
            <a:r>
              <a:rPr lang="en-US" sz="2400" dirty="0"/>
              <a:t>The lower preference for C, C++, and C# indicates that the industry is moving toward higher-level, flexible technologies, so learners should adapt to modern stacks to stay competitive.</a:t>
            </a:r>
          </a:p>
          <a:p>
            <a:endParaRPr lang="en-US" sz="2400" dirty="0"/>
          </a:p>
          <a:p>
            <a:endParaRPr lang="en-US" sz="2400" dirty="0"/>
          </a:p>
          <a:p>
            <a:endParaRPr lang="en-US" sz="2400" dirty="0"/>
          </a:p>
          <a:p>
            <a:endParaRPr lang="en-US" sz="2400" dirty="0"/>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2065128"/>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2065127"/>
            <a:ext cx="1758142" cy="501939"/>
          </a:xfrm>
        </p:spPr>
        <p:txBody>
          <a:bodyPr/>
          <a:lstStyle/>
          <a:p>
            <a:pPr marL="0" indent="0">
              <a:buNone/>
            </a:pPr>
            <a:r>
              <a:rPr lang="en-US" dirty="0"/>
              <a:t>Next Year</a:t>
            </a:r>
          </a:p>
        </p:txBody>
      </p:sp>
      <p:sp>
        <p:nvSpPr>
          <p:cNvPr id="5" name="Content Placeholder 2">
            <a:extLst>
              <a:ext uri="{FF2B5EF4-FFF2-40B4-BE49-F238E27FC236}">
                <a16:creationId xmlns:a16="http://schemas.microsoft.com/office/drawing/2014/main" id="{B4E86EFD-B801-5996-879A-7A13CF75507C}"/>
              </a:ext>
            </a:extLst>
          </p:cNvPr>
          <p:cNvSpPr txBox="1">
            <a:spLocks/>
          </p:cNvSpPr>
          <p:nvPr/>
        </p:nvSpPr>
        <p:spPr>
          <a:xfrm>
            <a:off x="813816" y="275893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databases for the current year goes here &gt;</a:t>
            </a:r>
          </a:p>
          <a:p>
            <a:pPr marL="0" indent="0">
              <a:buNone/>
            </a:pPr>
            <a:endParaRPr lang="en-US" sz="2200" dirty="0">
              <a:solidFill>
                <a:schemeClr val="tx1"/>
              </a:solidFill>
            </a:endParaRPr>
          </a:p>
        </p:txBody>
      </p:sp>
      <p:sp>
        <p:nvSpPr>
          <p:cNvPr id="6" name="Content Placeholder 2">
            <a:extLst>
              <a:ext uri="{FF2B5EF4-FFF2-40B4-BE49-F238E27FC236}">
                <a16:creationId xmlns:a16="http://schemas.microsoft.com/office/drawing/2014/main" id="{EF288C39-3E30-44CF-06C3-D46763CC8E0C}"/>
              </a:ext>
            </a:extLst>
          </p:cNvPr>
          <p:cNvSpPr txBox="1">
            <a:spLocks/>
          </p:cNvSpPr>
          <p:nvPr/>
        </p:nvSpPr>
        <p:spPr>
          <a:xfrm>
            <a:off x="6172200" y="2695286"/>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databases for the next year goes here.&gt;</a:t>
            </a:r>
          </a:p>
          <a:p>
            <a:pPr marL="0" indent="0">
              <a:buNone/>
            </a:pPr>
            <a:endParaRPr lang="en-US" sz="2200" dirty="0">
              <a:solidFill>
                <a:schemeClr val="tx1"/>
              </a:solidFill>
            </a:endParaRPr>
          </a:p>
        </p:txBody>
      </p:sp>
      <p:sp>
        <p:nvSpPr>
          <p:cNvPr id="7" name="TextBox 6">
            <a:extLst>
              <a:ext uri="{FF2B5EF4-FFF2-40B4-BE49-F238E27FC236}">
                <a16:creationId xmlns:a16="http://schemas.microsoft.com/office/drawing/2014/main" id="{917A0CDF-0FE0-1DE3-5B09-44D4318623B8}"/>
              </a:ext>
            </a:extLst>
          </p:cNvPr>
          <p:cNvSpPr txBox="1"/>
          <p:nvPr/>
        </p:nvSpPr>
        <p:spPr>
          <a:xfrm>
            <a:off x="881252" y="1476527"/>
            <a:ext cx="10429495" cy="461665"/>
          </a:xfrm>
          <a:prstGeom prst="rect">
            <a:avLst/>
          </a:prstGeom>
          <a:noFill/>
        </p:spPr>
        <p:txBody>
          <a:bodyPr wrap="square" rtlCol="0">
            <a:spAutoFit/>
          </a:bodyPr>
          <a:lstStyle/>
          <a:p>
            <a:r>
              <a:rPr lang="en-US" sz="2400" dirty="0"/>
              <a:t>Summarize key trends shown in the charts.</a:t>
            </a:r>
          </a:p>
        </p:txBody>
      </p:sp>
      <p:pic>
        <p:nvPicPr>
          <p:cNvPr id="11" name="Picture 10">
            <a:extLst>
              <a:ext uri="{FF2B5EF4-FFF2-40B4-BE49-F238E27FC236}">
                <a16:creationId xmlns:a16="http://schemas.microsoft.com/office/drawing/2014/main" id="{BE76749F-728A-D6E1-C7FF-DAB78BFC11AE}"/>
              </a:ext>
            </a:extLst>
          </p:cNvPr>
          <p:cNvPicPr>
            <a:picLocks noChangeAspect="1"/>
          </p:cNvPicPr>
          <p:nvPr/>
        </p:nvPicPr>
        <p:blipFill>
          <a:blip r:embed="rId3"/>
          <a:stretch>
            <a:fillRect/>
          </a:stretch>
        </p:blipFill>
        <p:spPr>
          <a:xfrm>
            <a:off x="6523745" y="3788229"/>
            <a:ext cx="3396342" cy="2615369"/>
          </a:xfrm>
          <a:prstGeom prst="rect">
            <a:avLst/>
          </a:prstGeom>
        </p:spPr>
      </p:pic>
      <p:pic>
        <p:nvPicPr>
          <p:cNvPr id="13" name="Picture 12">
            <a:extLst>
              <a:ext uri="{FF2B5EF4-FFF2-40B4-BE49-F238E27FC236}">
                <a16:creationId xmlns:a16="http://schemas.microsoft.com/office/drawing/2014/main" id="{7550C98E-312C-97D9-2ACA-40B9B75833C7}"/>
              </a:ext>
            </a:extLst>
          </p:cNvPr>
          <p:cNvPicPr>
            <a:picLocks noChangeAspect="1"/>
          </p:cNvPicPr>
          <p:nvPr/>
        </p:nvPicPr>
        <p:blipFill>
          <a:blip r:embed="rId4"/>
          <a:stretch>
            <a:fillRect/>
          </a:stretch>
        </p:blipFill>
        <p:spPr>
          <a:xfrm>
            <a:off x="1242106" y="2694003"/>
            <a:ext cx="3473184" cy="2507718"/>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34786" y="572944"/>
            <a:ext cx="11457214" cy="975302"/>
          </a:xfrm>
        </p:spPr>
        <p:txBody>
          <a:bodyPr>
            <a:normAutofit fontScale="90000"/>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normAutofit fontScale="62500" lnSpcReduction="20000"/>
          </a:bodyPr>
          <a:lstStyle/>
          <a:p>
            <a:pPr marL="0" indent="0">
              <a:buNone/>
            </a:pPr>
            <a:r>
              <a:rPr lang="en-US" dirty="0"/>
              <a:t>Findings</a:t>
            </a:r>
          </a:p>
          <a:p>
            <a:pPr marL="0" indent="0">
              <a:buNone/>
            </a:pPr>
            <a:endParaRPr lang="en-US" dirty="0"/>
          </a:p>
          <a:p>
            <a:r>
              <a:rPr lang="en-US" dirty="0"/>
              <a:t>PostgreSQL remains the leading database technology in both the current year and projected next year, indicating strong and consistent industry demand.</a:t>
            </a:r>
          </a:p>
          <a:p>
            <a:r>
              <a:rPr lang="en-US" dirty="0"/>
              <a:t>Cloud-native and modern databases such as </a:t>
            </a:r>
            <a:r>
              <a:rPr lang="en-US" dirty="0" err="1"/>
              <a:t>Supabase</a:t>
            </a:r>
            <a:r>
              <a:rPr lang="en-US" dirty="0"/>
              <a:t> and DynamoDB show increasing adoption in the next year, suggesting a growing shift toward scalable cloud-based solutions.</a:t>
            </a:r>
          </a:p>
          <a:p>
            <a:r>
              <a:rPr lang="en-US" dirty="0"/>
              <a:t>Traditional relational databases like MySQL and Microsoft SQL Server continue to maintain steady usage, while NoSQL databases such as MongoDB and Redis are expected to see continued growth due to demand for flexible and high-performance data systems.</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a:normAutofit fontScale="62500" lnSpcReduction="20000"/>
          </a:bodyPr>
          <a:lstStyle/>
          <a:p>
            <a:pPr marL="0" indent="0">
              <a:buNone/>
            </a:pPr>
            <a:r>
              <a:rPr lang="en-US" dirty="0"/>
              <a:t>Implications</a:t>
            </a:r>
          </a:p>
          <a:p>
            <a:pPr marL="0" indent="0">
              <a:buNone/>
            </a:pPr>
            <a:endParaRPr lang="en-US" dirty="0"/>
          </a:p>
          <a:p>
            <a:r>
              <a:rPr lang="en-US" sz="2900" dirty="0"/>
              <a:t>Organizations may increasingly invest in PostgreSQL and other highly adopted databases to meet industry demand and ensure long-term scalability and reliability.</a:t>
            </a:r>
          </a:p>
          <a:p>
            <a:r>
              <a:rPr lang="en-US" sz="2900" dirty="0"/>
              <a:t>The growing adoption of cloud-native and NoSQL databases implies that developers and IT professionals will need to expand their skills in modern database technologies and cloud platforms.</a:t>
            </a:r>
          </a:p>
          <a:p>
            <a:r>
              <a:rPr lang="en-US" sz="2900" dirty="0"/>
              <a:t>Companies relying only on traditional database systems may face challenges in scalability and flexibility, encouraging a shift toward hybrid architectures that combine relational and NoSQL solutions.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p:txBody>
          <a:bodyPr anchor="ctr">
            <a:normAutofit/>
          </a:bodyPr>
          <a:lstStyle/>
          <a:p>
            <a:r>
              <a:rPr lang="en-US"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3142210"/>
            <a:ext cx="7068725" cy="256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t>&lt;Please present your dashboard in the following slides.&gt;</a:t>
            </a: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706582" y="365125"/>
            <a:ext cx="11087100" cy="985693"/>
          </a:xfrm>
        </p:spPr>
        <p:txBody>
          <a:bodyPr anchor="ctr">
            <a:noAutofit/>
          </a:bodyPr>
          <a:lstStyle/>
          <a:p>
            <a:r>
              <a:rPr lang="en-US" dirty="0"/>
              <a:t>DASHBOARD TAB 1: Current Technology Usage</a:t>
            </a:r>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sz="half" idx="1"/>
          </p:nvPr>
        </p:nvSpPr>
        <p:spPr>
          <a:xfrm>
            <a:off x="838200" y="1690688"/>
            <a:ext cx="10515600" cy="4351338"/>
          </a:xfrm>
        </p:spPr>
        <p:txBody>
          <a:bodyPr>
            <a:normAutofit/>
          </a:bodyPr>
          <a:lstStyle/>
          <a:p>
            <a:pPr marL="0" indent="0">
              <a:buNone/>
            </a:pPr>
            <a:endParaRPr lang="en-US" dirty="0"/>
          </a:p>
          <a:p>
            <a:pPr marL="0" indent="0">
              <a:buNone/>
            </a:pPr>
            <a:r>
              <a:rPr lang="en-US" dirty="0"/>
              <a:t>Screenshot of dashboard tab 1 goes here</a:t>
            </a:r>
          </a:p>
          <a:p>
            <a:pPr marL="0" indent="0">
              <a:buNone/>
            </a:pPr>
            <a:endParaRPr lang="en-US" dirty="0"/>
          </a:p>
          <a:p>
            <a:pPr marL="0" indent="0">
              <a:buNone/>
            </a:pPr>
            <a:endParaRPr lang="en-US" dirty="0"/>
          </a:p>
          <a:p>
            <a:endParaRPr lang="en-US" dirty="0"/>
          </a:p>
          <a:p>
            <a:endParaRPr lang="en-US" dirty="0"/>
          </a:p>
          <a:p>
            <a:pPr marL="0" indent="0">
              <a:buNone/>
            </a:pPr>
            <a:endParaRPr lang="en-US" dirty="0"/>
          </a:p>
        </p:txBody>
      </p:sp>
      <p:pic>
        <p:nvPicPr>
          <p:cNvPr id="7" name="Picture 6">
            <a:extLst>
              <a:ext uri="{FF2B5EF4-FFF2-40B4-BE49-F238E27FC236}">
                <a16:creationId xmlns:a16="http://schemas.microsoft.com/office/drawing/2014/main" id="{23D64BA4-F353-D570-9041-9533202B7554}"/>
              </a:ext>
            </a:extLst>
          </p:cNvPr>
          <p:cNvPicPr>
            <a:picLocks noChangeAspect="1"/>
          </p:cNvPicPr>
          <p:nvPr/>
        </p:nvPicPr>
        <p:blipFill>
          <a:blip r:embed="rId3"/>
          <a:stretch>
            <a:fillRect/>
          </a:stretch>
        </p:blipFill>
        <p:spPr>
          <a:xfrm>
            <a:off x="706583" y="2678655"/>
            <a:ext cx="10515600" cy="3614570"/>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7DD70-1BED-30AA-8017-2B1432F93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1E4FC-6A64-914F-FAB1-21CDF9F85CEB}"/>
              </a:ext>
            </a:extLst>
          </p:cNvPr>
          <p:cNvSpPr>
            <a:spLocks noGrp="1"/>
          </p:cNvSpPr>
          <p:nvPr>
            <p:ph type="title"/>
          </p:nvPr>
        </p:nvSpPr>
        <p:spPr>
          <a:xfrm>
            <a:off x="727364" y="531380"/>
            <a:ext cx="11055926" cy="1016866"/>
          </a:xfrm>
        </p:spPr>
        <p:txBody>
          <a:bodyPr anchor="ctr">
            <a:normAutofit fontScale="90000"/>
          </a:bodyPr>
          <a:lstStyle/>
          <a:p>
            <a:r>
              <a:rPr lang="en-US" dirty="0"/>
              <a:t>DASHBOARD TAB 1: Current Technology Trends</a:t>
            </a:r>
          </a:p>
        </p:txBody>
      </p:sp>
      <p:sp>
        <p:nvSpPr>
          <p:cNvPr id="3" name="Content Placeholder 2">
            <a:extLst>
              <a:ext uri="{FF2B5EF4-FFF2-40B4-BE49-F238E27FC236}">
                <a16:creationId xmlns:a16="http://schemas.microsoft.com/office/drawing/2014/main" id="{C07D9A9E-D962-231D-0D5C-9B3C1E1F1758}"/>
              </a:ext>
            </a:extLst>
          </p:cNvPr>
          <p:cNvSpPr>
            <a:spLocks noGrp="1"/>
          </p:cNvSpPr>
          <p:nvPr>
            <p:ph sz="half" idx="1"/>
          </p:nvPr>
        </p:nvSpPr>
        <p:spPr>
          <a:xfrm>
            <a:off x="838200" y="1690688"/>
            <a:ext cx="10515600" cy="4351338"/>
          </a:xfrm>
        </p:spPr>
        <p:txBody>
          <a:bodyPr>
            <a:normAutofit fontScale="47500" lnSpcReduction="20000"/>
          </a:bodyPr>
          <a:lstStyle/>
          <a:p>
            <a:pPr marL="0" indent="0">
              <a:buNone/>
            </a:pPr>
            <a:endParaRPr lang="en-US" dirty="0"/>
          </a:p>
          <a:p>
            <a:pPr marL="0" indent="0">
              <a:buNone/>
            </a:pPr>
            <a:r>
              <a:rPr lang="en-US" b="1" dirty="0"/>
              <a:t>Dashboard Insight</a:t>
            </a:r>
          </a:p>
          <a:p>
            <a:r>
              <a:rPr lang="en-CA" dirty="0"/>
              <a:t>HTML/CSS, JavaScript, TypeScript is the most frequently used languages among </a:t>
            </a:r>
            <a:r>
              <a:rPr lang="en-US" dirty="0"/>
              <a:t>surveyed developers</a:t>
            </a:r>
            <a:r>
              <a:rPr lang="en-CA" dirty="0"/>
              <a:t> whereas C# is the least frequently used among</a:t>
            </a:r>
            <a:r>
              <a:rPr lang="en-US" dirty="0"/>
              <a:t> developers</a:t>
            </a:r>
            <a:endParaRPr lang="en-CA" dirty="0"/>
          </a:p>
          <a:p>
            <a:r>
              <a:rPr lang="en-US" dirty="0"/>
              <a:t>PostgreSQL demonstrated the highest database adoption among surveyed developers whereas MariaDB, MySQL demonstrated the least database adoption among  developers</a:t>
            </a:r>
          </a:p>
          <a:p>
            <a:r>
              <a:rPr lang="en-US" dirty="0"/>
              <a:t>Amazon Web Services demonstrated the highest platform adoption among surveyed developers whereas Google Cloud, Microsoft Azure demonstrated the least platform adoption among developers</a:t>
            </a:r>
          </a:p>
          <a:p>
            <a:r>
              <a:rPr lang="en-US" dirty="0"/>
              <a:t>Spring Boot  demonstrated the highest web framework adoption among surveyed developers whereas Next.js, Node.js, React demonstrated the least web framework adoption among developers</a:t>
            </a:r>
          </a:p>
          <a:p>
            <a:pPr marL="0" indent="0">
              <a:buNone/>
            </a:pPr>
            <a:endParaRPr lang="en-US" dirty="0"/>
          </a:p>
          <a:p>
            <a:pPr marL="0" indent="0">
              <a:buNone/>
            </a:pPr>
            <a:r>
              <a:rPr lang="en-US" b="1" dirty="0"/>
              <a:t>Summarize key insights shown</a:t>
            </a:r>
          </a:p>
          <a:p>
            <a:r>
              <a:rPr lang="en-US" dirty="0"/>
              <a:t>The average response count across Languages was approximately 159, indicating widespread usage of multiple languages among developers.</a:t>
            </a:r>
          </a:p>
          <a:p>
            <a:r>
              <a:rPr lang="en-US" dirty="0"/>
              <a:t>The average response count across databases was approximately 376, indicating widespread usage of multiple databases among developers.</a:t>
            </a:r>
          </a:p>
          <a:p>
            <a:r>
              <a:rPr lang="en-US" dirty="0"/>
              <a:t>The average response count across Platforms was approximately 697, indicating widespread usage of multiple platforms among developers.</a:t>
            </a:r>
          </a:p>
          <a:p>
            <a:r>
              <a:rPr lang="en-US" dirty="0"/>
              <a:t>The average response count across web frameworks was approximately 222, indicating widespread usage of multiple frameworks among developers.</a:t>
            </a:r>
          </a:p>
          <a:p>
            <a:endParaRPr lang="en-US" dirty="0"/>
          </a:p>
          <a:p>
            <a:pPr marL="0" indent="0">
              <a:buNone/>
            </a:pPr>
            <a:endParaRPr lang="en-US" dirty="0"/>
          </a:p>
        </p:txBody>
      </p:sp>
    </p:spTree>
    <p:custDataLst>
      <p:tags r:id="rId1"/>
    </p:custDataLst>
    <p:extLst>
      <p:ext uri="{BB962C8B-B14F-4D97-AF65-F5344CB8AC3E}">
        <p14:creationId xmlns:p14="http://schemas.microsoft.com/office/powerpoint/2010/main" val="179240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20BD1-EA3E-7E77-565B-6191E984B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829B5-B555-4CD3-8B16-D5A049BB82BE}"/>
              </a:ext>
            </a:extLst>
          </p:cNvPr>
          <p:cNvSpPr>
            <a:spLocks noGrp="1"/>
          </p:cNvSpPr>
          <p:nvPr>
            <p:ph type="title"/>
          </p:nvPr>
        </p:nvSpPr>
        <p:spPr>
          <a:xfrm>
            <a:off x="727364" y="531380"/>
            <a:ext cx="11055926" cy="1016866"/>
          </a:xfrm>
        </p:spPr>
        <p:txBody>
          <a:bodyPr anchor="ctr">
            <a:normAutofit fontScale="90000"/>
          </a:bodyPr>
          <a:lstStyle/>
          <a:p>
            <a:r>
              <a:rPr lang="en-US" dirty="0"/>
              <a:t>DASHBOARD TAB 2: Future Technology Trends</a:t>
            </a:r>
          </a:p>
        </p:txBody>
      </p:sp>
      <p:sp>
        <p:nvSpPr>
          <p:cNvPr id="3" name="Content Placeholder 2">
            <a:extLst>
              <a:ext uri="{FF2B5EF4-FFF2-40B4-BE49-F238E27FC236}">
                <a16:creationId xmlns:a16="http://schemas.microsoft.com/office/drawing/2014/main" id="{D792F6B6-9F2E-5BD6-EC3C-5F2B74DCE22D}"/>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r>
              <a:rPr lang="en-US" dirty="0"/>
              <a:t>Screenshot of dashboard tab 2 goes here</a:t>
            </a:r>
          </a:p>
          <a:p>
            <a:pPr marL="0" indent="0">
              <a:buNone/>
            </a:pPr>
            <a:endParaRPr lang="en-US" dirty="0"/>
          </a:p>
        </p:txBody>
      </p:sp>
      <p:pic>
        <p:nvPicPr>
          <p:cNvPr id="5" name="Picture 4">
            <a:extLst>
              <a:ext uri="{FF2B5EF4-FFF2-40B4-BE49-F238E27FC236}">
                <a16:creationId xmlns:a16="http://schemas.microsoft.com/office/drawing/2014/main" id="{69F62B59-6EBE-AB57-858D-55F654290411}"/>
              </a:ext>
            </a:extLst>
          </p:cNvPr>
          <p:cNvPicPr>
            <a:picLocks noChangeAspect="1"/>
          </p:cNvPicPr>
          <p:nvPr/>
        </p:nvPicPr>
        <p:blipFill>
          <a:blip r:embed="rId3"/>
          <a:stretch>
            <a:fillRect/>
          </a:stretch>
        </p:blipFill>
        <p:spPr>
          <a:xfrm>
            <a:off x="838200" y="2614109"/>
            <a:ext cx="10882993" cy="3570360"/>
          </a:xfrm>
          <a:prstGeom prst="rect">
            <a:avLst/>
          </a:prstGeom>
        </p:spPr>
      </p:pic>
    </p:spTree>
    <p:custDataLst>
      <p:tags r:id="rId1"/>
    </p:custDataLst>
    <p:extLst>
      <p:ext uri="{BB962C8B-B14F-4D97-AF65-F5344CB8AC3E}">
        <p14:creationId xmlns:p14="http://schemas.microsoft.com/office/powerpoint/2010/main" val="1449415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727364" y="531380"/>
            <a:ext cx="11055926" cy="1016866"/>
          </a:xfrm>
        </p:spPr>
        <p:txBody>
          <a:bodyPr anchor="ctr">
            <a:normAutofit fontScale="90000"/>
          </a:bodyPr>
          <a:lstStyle/>
          <a:p>
            <a:r>
              <a:rPr lang="en-US" dirty="0"/>
              <a:t>DASHBOARD TAB 2: Future Technology Trends</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sz="half" idx="1"/>
          </p:nvPr>
        </p:nvSpPr>
        <p:spPr>
          <a:xfrm>
            <a:off x="838200" y="1690688"/>
            <a:ext cx="10515600" cy="4351338"/>
          </a:xfrm>
        </p:spPr>
        <p:txBody>
          <a:bodyPr>
            <a:normAutofit fontScale="55000" lnSpcReduction="20000"/>
          </a:bodyPr>
          <a:lstStyle/>
          <a:p>
            <a:pPr marL="0" indent="0">
              <a:buNone/>
            </a:pPr>
            <a:endParaRPr lang="en-US" dirty="0"/>
          </a:p>
          <a:p>
            <a:pPr marL="0" indent="0">
              <a:buNone/>
            </a:pPr>
            <a:r>
              <a:rPr lang="en-US" b="1" dirty="0"/>
              <a:t>Dashboard Insight</a:t>
            </a:r>
          </a:p>
          <a:p>
            <a:r>
              <a:rPr lang="en-US" dirty="0"/>
              <a:t>HTML/CSS, JavaScript, and TypeScript emerged as the most preferred languages among  developers want to work with in the future, whereas Bash/ Shell(all shells) least preferred among developers.</a:t>
            </a:r>
          </a:p>
          <a:p>
            <a:r>
              <a:rPr lang="en-US" dirty="0"/>
              <a:t>PostgreSQL emerged as the most preferred databases among  developers want to work with in the future, whereas Microsoft SQL Server as the least preferred among developers.</a:t>
            </a:r>
          </a:p>
          <a:p>
            <a:r>
              <a:rPr lang="en-US" dirty="0"/>
              <a:t>Amazon Web Services emerged as the most preferred platforms among  developers want to work with in the future, whereas Amazon Web Services; Digital Ocean  as the least preferred among developers.</a:t>
            </a:r>
          </a:p>
          <a:p>
            <a:r>
              <a:rPr lang="en-US" dirty="0"/>
              <a:t>Spring Boot emerged as the most preferred web framework among  developers want to work with in the future, whereas Flask as the least preferred among developers.</a:t>
            </a:r>
          </a:p>
          <a:p>
            <a:pPr marL="0" indent="0">
              <a:buNone/>
            </a:pPr>
            <a:endParaRPr lang="en-US" dirty="0"/>
          </a:p>
          <a:p>
            <a:pPr marL="0" indent="0">
              <a:buNone/>
            </a:pPr>
            <a:r>
              <a:rPr lang="en-US" b="1" dirty="0"/>
              <a:t>Summarize key insights shown</a:t>
            </a:r>
          </a:p>
          <a:p>
            <a:r>
              <a:rPr lang="en-US" dirty="0"/>
              <a:t>The average response count across Languages was approximately 127, indicating widespread preference of multiple languages among developers.</a:t>
            </a:r>
          </a:p>
          <a:p>
            <a:r>
              <a:rPr lang="en-US" dirty="0"/>
              <a:t>The average response count across databases was approximately 441, indicating widespread preference of multiple databases among developers.</a:t>
            </a:r>
          </a:p>
          <a:p>
            <a:r>
              <a:rPr lang="en-US" dirty="0"/>
              <a:t>The average response count across web frameworks was approximately 257, indicating widespread preference of multiple frameworks among developers.</a:t>
            </a:r>
          </a:p>
          <a:p>
            <a:pPr marL="0" indent="0">
              <a:buNone/>
            </a:pPr>
            <a:endParaRPr lang="en-US" dirty="0"/>
          </a:p>
        </p:txBody>
      </p:sp>
    </p:spTree>
    <p:custDataLst>
      <p:tags r:id="rId1"/>
    </p:custDataLst>
    <p:extLst>
      <p:ext uri="{BB962C8B-B14F-4D97-AF65-F5344CB8AC3E}">
        <p14:creationId xmlns:p14="http://schemas.microsoft.com/office/powerpoint/2010/main" val="2048496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p:txBody>
          <a:bodyPr anchor="ctr">
            <a:normAutofit/>
          </a:bodyPr>
          <a:lstStyle/>
          <a:p>
            <a:r>
              <a:rPr lang="en-US" dirty="0"/>
              <a:t>DASHBOARD TAB 3: Demographics</a:t>
            </a:r>
          </a:p>
        </p:txBody>
      </p:sp>
      <p:sp>
        <p:nvSpPr>
          <p:cNvPr id="3" name="Content Placeholder 2">
            <a:extLst>
              <a:ext uri="{FF2B5EF4-FFF2-40B4-BE49-F238E27FC236}">
                <a16:creationId xmlns:a16="http://schemas.microsoft.com/office/drawing/2014/main" id="{84961A98-8DF3-E66E-19C4-7D7642551E90}"/>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r>
              <a:rPr lang="en-US" dirty="0"/>
              <a:t>Screenshot of dashboard tab 3 goes here</a:t>
            </a:r>
          </a:p>
          <a:p>
            <a:pPr marL="0" indent="0">
              <a:buNone/>
            </a:pPr>
            <a:endParaRPr lang="en-US" dirty="0"/>
          </a:p>
        </p:txBody>
      </p:sp>
      <p:pic>
        <p:nvPicPr>
          <p:cNvPr id="5" name="Picture 4">
            <a:extLst>
              <a:ext uri="{FF2B5EF4-FFF2-40B4-BE49-F238E27FC236}">
                <a16:creationId xmlns:a16="http://schemas.microsoft.com/office/drawing/2014/main" id="{BEF93FF4-03F7-C4E6-C470-3BFE7C2343BF}"/>
              </a:ext>
            </a:extLst>
          </p:cNvPr>
          <p:cNvPicPr>
            <a:picLocks noChangeAspect="1"/>
          </p:cNvPicPr>
          <p:nvPr/>
        </p:nvPicPr>
        <p:blipFill>
          <a:blip r:embed="rId3"/>
          <a:stretch>
            <a:fillRect/>
          </a:stretch>
        </p:blipFill>
        <p:spPr>
          <a:xfrm>
            <a:off x="1097281" y="2636968"/>
            <a:ext cx="9854004" cy="3405058"/>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E05CC-19D3-799A-916F-1B0F9BC4D6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399E93-1962-2667-80CC-9E35FED3DD5A}"/>
              </a:ext>
            </a:extLst>
          </p:cNvPr>
          <p:cNvSpPr>
            <a:spLocks noGrp="1"/>
          </p:cNvSpPr>
          <p:nvPr>
            <p:ph type="title"/>
          </p:nvPr>
        </p:nvSpPr>
        <p:spPr/>
        <p:txBody>
          <a:bodyPr anchor="ctr">
            <a:normAutofit/>
          </a:bodyPr>
          <a:lstStyle/>
          <a:p>
            <a:r>
              <a:rPr lang="en-US" dirty="0"/>
              <a:t>DASHBOARD TAB 3: Demographics</a:t>
            </a:r>
          </a:p>
        </p:txBody>
      </p:sp>
      <p:sp>
        <p:nvSpPr>
          <p:cNvPr id="3" name="Content Placeholder 2">
            <a:extLst>
              <a:ext uri="{FF2B5EF4-FFF2-40B4-BE49-F238E27FC236}">
                <a16:creationId xmlns:a16="http://schemas.microsoft.com/office/drawing/2014/main" id="{DF7C0CA5-C5E0-35D8-325A-758B9B3A04CB}"/>
              </a:ext>
            </a:extLst>
          </p:cNvPr>
          <p:cNvSpPr>
            <a:spLocks noGrp="1"/>
          </p:cNvSpPr>
          <p:nvPr>
            <p:ph sz="half" idx="1"/>
          </p:nvPr>
        </p:nvSpPr>
        <p:spPr>
          <a:xfrm>
            <a:off x="838200" y="1690688"/>
            <a:ext cx="10515600" cy="4351338"/>
          </a:xfrm>
        </p:spPr>
        <p:txBody>
          <a:bodyPr>
            <a:normAutofit fontScale="47500" lnSpcReduction="20000"/>
          </a:bodyPr>
          <a:lstStyle/>
          <a:p>
            <a:pPr marL="0" indent="0">
              <a:buNone/>
            </a:pPr>
            <a:r>
              <a:rPr lang="en-US" b="1" dirty="0"/>
              <a:t>Dashboard Insights</a:t>
            </a:r>
          </a:p>
          <a:p>
            <a:r>
              <a:rPr lang="en-US" dirty="0"/>
              <a:t>Developers aged 25–34 represented the largest demographic group in the survey, followed by respondents in the 35–44 age category, indicating strong participation from early- to mid-career professionals.</a:t>
            </a:r>
          </a:p>
          <a:p>
            <a:r>
              <a:rPr lang="en-US" dirty="0"/>
              <a:t>Niger reported the highest total compensation values despite having relatively low survey participation, ranking 147th in the number of distinct respondents.</a:t>
            </a:r>
          </a:p>
          <a:p>
            <a:r>
              <a:rPr lang="en-US" dirty="0"/>
              <a:t>Respondents with a Bachelor’s degree represented the largest educational group in the survey, followed by those holding a Master’s degree, highlighting the strong presence of higher education qualifications among developers whereas respondents with only primary or elementary school education and alternative educational backgrounds represented the smallest share of survey participants.</a:t>
            </a:r>
          </a:p>
          <a:p>
            <a:r>
              <a:rPr lang="en-US" dirty="0"/>
              <a:t>Respondents with Bachelor’s degrees and Professional degrees showed the highest average age levels among surveyed education groups whereas respondents holding Associate and Master’s degrees represented the younger age groups within the survey demographics.</a:t>
            </a:r>
          </a:p>
          <a:p>
            <a:pPr marL="0" indent="0">
              <a:buNone/>
            </a:pPr>
            <a:r>
              <a:rPr lang="en-IN" b="1" dirty="0"/>
              <a:t>Summarize demographic insights</a:t>
            </a:r>
          </a:p>
          <a:p>
            <a:r>
              <a:rPr lang="en-US" dirty="0"/>
              <a:t>Belize showed a unique demographic pattern, with the highest survey participation coming from respondents aged 65 years or older, unlike most countries where the 25–34 age group represented the largest share of respondents.</a:t>
            </a:r>
          </a:p>
          <a:p>
            <a:r>
              <a:rPr lang="en-US" dirty="0"/>
              <a:t>The United States had the highest survey participation among respondents, followed by Germany, indicating strong developer representation from these countries.</a:t>
            </a:r>
          </a:p>
          <a:p>
            <a:r>
              <a:rPr lang="en-US" dirty="0"/>
              <a:t>Country Niger is unique in that it has the highest </a:t>
            </a:r>
            <a:r>
              <a:rPr lang="en-US" dirty="0" err="1"/>
              <a:t>ResponseId</a:t>
            </a:r>
            <a:r>
              <a:rPr lang="en-US" dirty="0"/>
              <a:t> from </a:t>
            </a:r>
            <a:r>
              <a:rPr lang="en-US" dirty="0" err="1"/>
              <a:t>EdLevel</a:t>
            </a:r>
            <a:r>
              <a:rPr lang="en-US" dirty="0"/>
              <a:t> Professional degree (JD, MD, </a:t>
            </a:r>
            <a:r>
              <a:rPr lang="en-US" dirty="0" err="1"/>
              <a:t>Ph.D</a:t>
            </a:r>
            <a:r>
              <a:rPr lang="en-US" dirty="0"/>
              <a:t>, </a:t>
            </a:r>
            <a:r>
              <a:rPr lang="en-US" dirty="0" err="1"/>
              <a:t>Ed.D</a:t>
            </a:r>
            <a:r>
              <a:rPr lang="en-US" dirty="0"/>
              <a:t>, etc.) at 1, compared to peers that have highest </a:t>
            </a:r>
            <a:r>
              <a:rPr lang="en-US" dirty="0" err="1"/>
              <a:t>ResponseId</a:t>
            </a:r>
            <a:r>
              <a:rPr lang="en-US" dirty="0"/>
              <a:t> from </a:t>
            </a:r>
            <a:r>
              <a:rPr lang="en-US" dirty="0" err="1"/>
              <a:t>EdLevel</a:t>
            </a:r>
            <a:r>
              <a:rPr lang="en-US" dirty="0"/>
              <a:t> Bachelor's degree (B.A., B.S., B.Eng., etc.).</a:t>
            </a:r>
          </a:p>
          <a:p>
            <a:r>
              <a:rPr lang="en-US" dirty="0"/>
              <a:t>Italy demonstrated a distinct educational trend, where respondents with Professional degrees represented the highest age category, unlike most countries where Bachelor’s degree holders formed the dominant age group.</a:t>
            </a:r>
          </a:p>
          <a:p>
            <a:endParaRPr lang="en-US" dirty="0"/>
          </a:p>
        </p:txBody>
      </p:sp>
    </p:spTree>
    <p:custDataLst>
      <p:tags r:id="rId1"/>
    </p:custDataLst>
    <p:extLst>
      <p:ext uri="{BB962C8B-B14F-4D97-AF65-F5344CB8AC3E}">
        <p14:creationId xmlns:p14="http://schemas.microsoft.com/office/powerpoint/2010/main" val="347538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143282" y="2348628"/>
            <a:ext cx="3054361" cy="3054361"/>
          </a:xfrm>
          <a:prstGeom prst="rect">
            <a:avLst/>
          </a:prstGeom>
          <a:noFill/>
        </p:spPr>
      </p:pic>
      <p:sp>
        <p:nvSpPr>
          <p:cNvPr id="6" name="Content Placeholder 5">
            <a:extLst>
              <a:ext uri="{FF2B5EF4-FFF2-40B4-BE49-F238E27FC236}">
                <a16:creationId xmlns:a16="http://schemas.microsoft.com/office/drawing/2014/main" id="{E00C60C1-F74B-812F-2D9F-9427A6606F23}"/>
              </a:ext>
            </a:extLst>
          </p:cNvPr>
          <p:cNvSpPr>
            <a:spLocks noGrp="1"/>
          </p:cNvSpPr>
          <p:nvPr>
            <p:ph sz="half" idx="2"/>
          </p:nvPr>
        </p:nvSpPr>
        <p:spPr>
          <a:xfrm>
            <a:off x="4701092" y="1600200"/>
            <a:ext cx="6652708" cy="4572000"/>
          </a:xfrm>
        </p:spPr>
        <p:txBody>
          <a:bodyPr>
            <a:normAutofit fontScale="85000" lnSpcReduction="10000"/>
          </a:bodyPr>
          <a:lstStyle/>
          <a:p>
            <a:r>
              <a:rPr lang="en-US" sz="1700" dirty="0"/>
              <a:t>Front-end and full-stack technologies such as HTML/CSS, JavaScript, and TypeScript dominated both current usage and future developer preferences, highlighting their continued importance in modern software development.</a:t>
            </a:r>
          </a:p>
          <a:p>
            <a:r>
              <a:rPr lang="en-US" sz="1700" dirty="0"/>
              <a:t>PostgreSQL emerged as the leading database technology for both current adoption and future interest, demonstrating strong trust in open-source relational database systems.</a:t>
            </a:r>
          </a:p>
          <a:p>
            <a:r>
              <a:rPr lang="en-US" sz="1700" dirty="0"/>
              <a:t>Amazon Web Services maintained the highest platform adoption and future preference among developers, reinforcing the growing reliance on cloud computing technologies.</a:t>
            </a:r>
          </a:p>
          <a:p>
            <a:r>
              <a:rPr lang="en-US" sz="1700" dirty="0"/>
              <a:t>Spring Boot showed strong adoption and future demand among web frameworks, indicating increasing preference for enterprise-level backend development solutions</a:t>
            </a:r>
          </a:p>
          <a:p>
            <a:r>
              <a:rPr lang="en-US" sz="1700" dirty="0"/>
              <a:t>Developers commonly work with multiple technologies simultaneously, as reflected by the high average response counts across languages, databases, platforms, and frameworks.</a:t>
            </a:r>
          </a:p>
          <a:p>
            <a:r>
              <a:rPr lang="en-US" sz="1700" dirty="0"/>
              <a:t>The majority of survey participants belonged to the 25–34 and 35–44 age groups, representing strong participation from early- and mid-career professionals</a:t>
            </a:r>
          </a:p>
          <a:p>
            <a:r>
              <a:rPr lang="en-US" sz="1700" dirty="0"/>
              <a:t>Bachelor’s and Master’s degree holders formed the largest educational groups among respondents, emphasizing the strong presence of higher education qualifications within the developer community.</a:t>
            </a:r>
            <a:endParaRPr lang="en-CA" sz="1700" dirty="0"/>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13816" y="1825625"/>
            <a:ext cx="5181600" cy="4351338"/>
          </a:xfrm>
        </p:spPr>
        <p:txBody>
          <a:bodyPr>
            <a:normAutofit fontScale="92500" lnSpcReduction="10000"/>
          </a:bodyPr>
          <a:lstStyle/>
          <a:p>
            <a:pPr marL="0" indent="0">
              <a:buNone/>
            </a:pPr>
            <a:r>
              <a:rPr lang="en-US" dirty="0"/>
              <a:t>Findings</a:t>
            </a:r>
          </a:p>
          <a:p>
            <a:pPr marL="0" indent="0">
              <a:buNone/>
            </a:pPr>
            <a:endParaRPr lang="en-US" dirty="0"/>
          </a:p>
          <a:p>
            <a:r>
              <a:rPr lang="en-US" sz="1700" dirty="0"/>
              <a:t>The developer workforce is primarily concentrated in professionally experienced age groups with strong academic backgrounds.</a:t>
            </a:r>
          </a:p>
          <a:p>
            <a:r>
              <a:rPr lang="en-US" sz="1700" dirty="0"/>
              <a:t>The United States and Germany contributed the highest survey participation, indicating strong representation from major global technology markets.</a:t>
            </a:r>
          </a:p>
          <a:p>
            <a:r>
              <a:rPr lang="en-US" sz="1700" dirty="0"/>
              <a:t>Unique regional trends were identified, including:</a:t>
            </a:r>
          </a:p>
          <a:p>
            <a:pPr>
              <a:buFont typeface="Courier New" panose="02070309020205020404" pitchFamily="49" charset="0"/>
              <a:buChar char="o"/>
            </a:pPr>
            <a:r>
              <a:rPr lang="en-US" sz="1700" dirty="0"/>
              <a:t>Belize having higher participation from older age groups,</a:t>
            </a:r>
          </a:p>
          <a:p>
            <a:pPr>
              <a:buFont typeface="Courier New" panose="02070309020205020404" pitchFamily="49" charset="0"/>
              <a:buChar char="o"/>
            </a:pPr>
            <a:r>
              <a:rPr lang="en-US" sz="1700" dirty="0"/>
              <a:t>Niger showing unusually high compensation values despite low participation,</a:t>
            </a:r>
          </a:p>
          <a:p>
            <a:pPr>
              <a:buFont typeface="Courier New" panose="02070309020205020404" pitchFamily="49" charset="0"/>
              <a:buChar char="o"/>
            </a:pPr>
            <a:r>
              <a:rPr lang="en-US" sz="1700" dirty="0"/>
              <a:t>Italy displaying stronger representation of professional degree holders in older age categories.</a:t>
            </a:r>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5849291" y="1825625"/>
            <a:ext cx="5504509" cy="4351338"/>
          </a:xfrm>
        </p:spPr>
        <p:txBody>
          <a:bodyPr>
            <a:normAutofit fontScale="92500" lnSpcReduction="10000"/>
          </a:bodyPr>
          <a:lstStyle/>
          <a:p>
            <a:pPr marL="0" indent="0">
              <a:buNone/>
            </a:pPr>
            <a:r>
              <a:rPr lang="en-US" dirty="0"/>
              <a:t>Implications</a:t>
            </a:r>
          </a:p>
          <a:p>
            <a:pPr marL="0" indent="0">
              <a:buNone/>
            </a:pPr>
            <a:endParaRPr lang="en-US" sz="1400" dirty="0"/>
          </a:p>
        </p:txBody>
      </p:sp>
      <p:sp>
        <p:nvSpPr>
          <p:cNvPr id="6" name="Rectangle 2">
            <a:extLst>
              <a:ext uri="{FF2B5EF4-FFF2-40B4-BE49-F238E27FC236}">
                <a16:creationId xmlns:a16="http://schemas.microsoft.com/office/drawing/2014/main" id="{D9FC5227-E705-403D-7DC2-EA0DC8D03ECC}"/>
              </a:ext>
            </a:extLst>
          </p:cNvPr>
          <p:cNvSpPr>
            <a:spLocks noChangeArrowheads="1"/>
          </p:cNvSpPr>
          <p:nvPr/>
        </p:nvSpPr>
        <p:spPr bwMode="auto">
          <a:xfrm>
            <a:off x="5995416" y="2454216"/>
            <a:ext cx="5444446" cy="2124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fontAlgn="base">
              <a:lnSpc>
                <a:spcPct val="80000"/>
              </a:lnSpc>
              <a:spcBef>
                <a:spcPts val="1000"/>
              </a:spcBef>
              <a:spcAft>
                <a:spcPct val="0"/>
              </a:spcAft>
              <a:buClrTx/>
              <a:buSzTx/>
              <a:buFont typeface="Arial"/>
              <a:buChar char="•"/>
              <a:tabLst/>
            </a:pPr>
            <a:r>
              <a:rPr lang="en-US" altLang="en-US" sz="1600" dirty="0">
                <a:solidFill>
                  <a:srgbClr val="262626"/>
                </a:solidFill>
                <a:latin typeface="IBM Plex Sans" panose="020B0503050203000203" pitchFamily="34" charset="0"/>
              </a:rPr>
              <a:t>The growing adoption of multiple technologies implies that developers must continuously upskill and maintain cross-functional technical expertise. </a:t>
            </a:r>
          </a:p>
          <a:p>
            <a:pPr marL="228600" marR="0" lvl="0" indent="-228600" fontAlgn="base">
              <a:lnSpc>
                <a:spcPct val="80000"/>
              </a:lnSpc>
              <a:spcBef>
                <a:spcPts val="1000"/>
              </a:spcBef>
              <a:spcAft>
                <a:spcPct val="0"/>
              </a:spcAft>
              <a:buClrTx/>
              <a:buSzTx/>
              <a:buFont typeface="Arial"/>
              <a:buChar char="•"/>
              <a:tabLst/>
            </a:pPr>
            <a:r>
              <a:rPr lang="en-US" altLang="en-US" sz="1600" dirty="0">
                <a:solidFill>
                  <a:srgbClr val="262626"/>
                </a:solidFill>
                <a:latin typeface="IBM Plex Sans" panose="020B0503050203000203" pitchFamily="34" charset="0"/>
              </a:rPr>
              <a:t>Cloud computing and scalable backend technologies are expected to remain central to future digital transformation initiatives. </a:t>
            </a:r>
          </a:p>
          <a:p>
            <a:pPr marL="228600" marR="0" lvl="0" indent="-228600" fontAlgn="base">
              <a:lnSpc>
                <a:spcPct val="80000"/>
              </a:lnSpc>
              <a:spcBef>
                <a:spcPts val="1000"/>
              </a:spcBef>
              <a:spcAft>
                <a:spcPct val="0"/>
              </a:spcAft>
              <a:buClrTx/>
              <a:buSzTx/>
              <a:buFont typeface="Arial"/>
              <a:buChar char="•"/>
              <a:tabLst/>
            </a:pPr>
            <a:r>
              <a:rPr lang="en-US" altLang="en-US" sz="1600" dirty="0">
                <a:solidFill>
                  <a:srgbClr val="262626"/>
                </a:solidFill>
                <a:latin typeface="IBM Plex Sans" panose="020B0503050203000203" pitchFamily="34" charset="0"/>
              </a:rPr>
              <a:t>Global differences in demographics, compensation, and education highlight the importance of region-specific workforce and hiring strategies. </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80000"/>
              </a:lnSpc>
            </a:pPr>
            <a:endParaRPr lang="en-US" sz="1600" dirty="0"/>
          </a:p>
          <a:p>
            <a:pPr>
              <a:lnSpc>
                <a:spcPct val="80000"/>
              </a:lnSpc>
            </a:pPr>
            <a:r>
              <a:rPr lang="en-US" sz="1600" dirty="0"/>
              <a:t>The survey demonstrates that modern full-stack development, cloud computing, and open-source technologies are shaping the future of the software industry. </a:t>
            </a:r>
          </a:p>
          <a:p>
            <a:pPr>
              <a:lnSpc>
                <a:spcPct val="80000"/>
              </a:lnSpc>
            </a:pPr>
            <a:r>
              <a:rPr lang="en-US" sz="1600" dirty="0"/>
              <a:t>PostgreSQL, AWS, JavaScript, and Spring Boot emerged as key technologies with both strong current adoption and future growth potential.</a:t>
            </a:r>
          </a:p>
          <a:p>
            <a:pPr>
              <a:lnSpc>
                <a:spcPct val="80000"/>
              </a:lnSpc>
            </a:pPr>
            <a:r>
              <a:rPr lang="en-US" sz="1600" dirty="0"/>
              <a:t>The software development workforce is largely composed of educated early- and mid-career professionals with diverse technical skill sets.</a:t>
            </a:r>
          </a:p>
          <a:p>
            <a:pPr>
              <a:lnSpc>
                <a:spcPct val="80000"/>
              </a:lnSpc>
            </a:pPr>
            <a:r>
              <a:rPr lang="en-US" sz="1600" dirty="0"/>
              <a:t>The findings indicate a continuing shift toward cloud-native architectures, enterprise backend solutions, and multi-technology development environments</a:t>
            </a:r>
          </a:p>
          <a:p>
            <a:pPr>
              <a:lnSpc>
                <a:spcPct val="80000"/>
              </a:lnSpc>
            </a:pPr>
            <a:r>
              <a:rPr lang="en-US" sz="1600" dirty="0"/>
              <a:t>Overall, the dashboard analysis provides valuable insights into current developer trends, future technology preferences, and evolving global workforce patterns within the software industry</a:t>
            </a:r>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Include any relevant additional charts, or tables that you may have created during the analysis phase.</a:t>
            </a:r>
          </a:p>
          <a:p>
            <a:pPr marL="0" indent="0">
              <a:buNone/>
            </a:pPr>
            <a:r>
              <a:rPr lang="en-US" dirty="0"/>
              <a:t>Dataset used:</a:t>
            </a:r>
          </a:p>
          <a:p>
            <a:r>
              <a:rPr lang="en-CA" dirty="0"/>
              <a:t>survey_data_updated.csv</a:t>
            </a:r>
          </a:p>
          <a:p>
            <a:pPr marL="0" indent="0">
              <a:buNone/>
            </a:pPr>
            <a:r>
              <a:rPr lang="en-CA" dirty="0"/>
              <a:t>Table Created</a:t>
            </a:r>
          </a:p>
          <a:p>
            <a:r>
              <a:rPr lang="en-CA" dirty="0"/>
              <a:t> main</a:t>
            </a:r>
            <a:endParaRPr lang="en-US" dirty="0"/>
          </a:p>
        </p:txBody>
      </p:sp>
    </p:spTree>
    <p:custDataLst>
      <p:tags r:id="rId1"/>
    </p:custDataLst>
    <p:extLst>
      <p:ext uri="{BB962C8B-B14F-4D97-AF65-F5344CB8AC3E}">
        <p14:creationId xmlns:p14="http://schemas.microsoft.com/office/powerpoint/2010/main" val="1860158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customXml/itemProps3.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705</TotalTime>
  <Words>1961</Words>
  <Application>Microsoft Office PowerPoint</Application>
  <PresentationFormat>Widescreen</PresentationFormat>
  <Paragraphs>170</Paragraphs>
  <Slides>23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Courier New</vt:lpstr>
      <vt:lpstr>Helv</vt:lpstr>
      <vt:lpstr>IBM Plex Mono</vt:lpstr>
      <vt:lpstr>IBM Plex Mono Medium</vt:lpstr>
      <vt:lpstr>IBM Plex Sans</vt:lpstr>
      <vt:lpstr>IBM Plex Sans SemiBold</vt:lpstr>
      <vt:lpstr>SLIDE_TEMPLATE_skill_network</vt:lpstr>
      <vt:lpstr>Title</vt:lpstr>
      <vt:lpstr>PowerPoint Presentation</vt:lpstr>
      <vt:lpstr>EXECUTIVE SUMMARY</vt:lpstr>
      <vt:lpstr>INTRODUCTION</vt:lpstr>
      <vt:lpstr>METHODOLOGY</vt:lpstr>
      <vt:lpstr>Results</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vt:lpstr>
      <vt:lpstr>DASHBOARD TAB 1: Current Technology Usage</vt:lpstr>
      <vt:lpstr>DASHBOARD TAB 1: Current Technology Trends</vt:lpstr>
      <vt:lpstr>DASHBOARD TAB 2: Future Technology Trends</vt:lpstr>
      <vt:lpstr>DASHBOARD TAB 2: Future Technology Trends</vt:lpstr>
      <vt:lpstr>DASHBOARD TAB 3: Demographics</vt:lpstr>
      <vt:lpstr>DASHBOARD TAB 3: Demographics</vt:lpstr>
      <vt:lpstr>DISCUSSION</vt:lpstr>
      <vt:lpstr>OVERALL FINDINGS &amp; IMPLICATIONS</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Office</cp:lastModifiedBy>
  <cp:revision>19</cp:revision>
  <dcterms:created xsi:type="dcterms:W3CDTF">2024-10-30T05:40:03Z</dcterms:created>
  <dcterms:modified xsi:type="dcterms:W3CDTF">2026-05-25T04:07:55Z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